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avalli-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57200"/>
            <a:ext cx="10728655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B5E3B"/>
                </a:solidFill>
              </a:defRPr>
            </a:pPr>
            <a:r>
              <a:t>🏆  ARAVALLI BUILD CHALLENGE  •  ABC — Aravali Build Championship by GDG Udaipur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5E3B"/>
                </a:solidFill>
              </a:defRPr>
            </a:pPr>
            <a:r>
              <a:t>ARAVALLI SENTINEL</a:t>
            </a:r>
          </a:p>
          <a:p>
            <a:pPr>
              <a:spcBef>
                <a:spcPts val="400"/>
              </a:spcBef>
              <a:defRPr sz="1800" b="1">
                <a:solidFill>
                  <a:srgbClr val="806044"/>
                </a:solidFill>
              </a:defRPr>
            </a:pPr>
            <a:r>
              <a:t>AI-Powered Ecological Early-Warning &amp; Satellite Action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651760"/>
            <a:ext cx="9966960" cy="1143000"/>
          </a:xfrm>
          <a:prstGeom prst="roundRect">
            <a:avLst/>
          </a:prstGeom>
          <a:solidFill>
            <a:srgbClr val="F0F8F2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5E3B"/>
                </a:solidFill>
              </a:defRPr>
            </a:pPr>
            <a:r>
              <a:t>PROBLEM STATEMENT:</a:t>
            </a:r>
          </a:p>
          <a:p>
            <a:pPr>
              <a:spcBef>
                <a:spcPts val="300"/>
              </a:spcBef>
              <a:defRPr sz="1200">
                <a:solidFill>
                  <a:srgbClr val="26382D"/>
                </a:solidFill>
              </a:defRPr>
            </a:pPr>
            <a:r>
              <a:t>Halting illegal mining, large-scale deforestation, and toxic dumping in the fragile Aravalli mountain corridor through vernacular multimodal citizen reporting, Google Gemini AI triage, and Sentinel-2 satellite change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931920"/>
            <a:ext cx="9966960" cy="822960"/>
          </a:xfrm>
          <a:prstGeom prst="roundRect">
            <a:avLst/>
          </a:prstGeom>
          <a:solidFill>
            <a:srgbClr val="FEF9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92400E"/>
                </a:solidFill>
              </a:defRPr>
            </a:pPr>
            <a:r>
              <a:t>⭐ GOOGLE TECHNOLOGIES TRACK: Built with Google Gemini 1.5 Pro/Flash, Google Earth Engine (Sentinel-2 MSI), Google Maps Platform, Google Cloud Run &amp; Android Health Connect.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8523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3B"/>
                </a:solidFill>
              </a:defRPr>
            </a:pPr>
            <a:r>
              <a:t>TEAM</a:t>
            </a:r>
          </a:p>
          <a:p>
            <a:pPr>
              <a:spcBef>
                <a:spcPts val="200"/>
              </a:spcBef>
              <a:defRPr sz="1100">
                <a:solidFill>
                  <a:srgbClr val="26382D"/>
                </a:solidFill>
              </a:defRPr>
            </a:pPr>
            <a:r>
              <a:t>Team Sentinel</a:t>
            </a:r>
            <a:br/>
            <a:r>
              <a:t>[Aravalli Guardians]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28523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3B"/>
                </a:solidFill>
              </a:defRPr>
            </a:pPr>
            <a:r>
              <a:t>TRACK</a:t>
            </a:r>
          </a:p>
          <a:p>
            <a:pPr>
              <a:spcBef>
                <a:spcPts val="200"/>
              </a:spcBef>
              <a:defRPr sz="1100">
                <a:solidFill>
                  <a:srgbClr val="26382D"/>
                </a:solidFill>
              </a:defRPr>
            </a:pPr>
            <a:r>
              <a:t>Sustainability, AI &amp; Climate Action</a:t>
            </a:r>
            <a:br/>
            <a:r>
              <a:t>Google Cloud &amp; Gemini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528523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3B"/>
                </a:solidFill>
              </a:defRPr>
            </a:pPr>
            <a:r>
              <a:t>TEAM MEMBERS</a:t>
            </a:r>
          </a:p>
          <a:p>
            <a:pPr>
              <a:spcBef>
                <a:spcPts val="200"/>
              </a:spcBef>
              <a:defRPr sz="1100">
                <a:solidFill>
                  <a:srgbClr val="26382D"/>
                </a:solidFill>
              </a:defRPr>
            </a:pPr>
            <a:r>
              <a:t>Member 1: Team Lead &amp; Full-Stack</a:t>
            </a:r>
            <a:br/>
            <a:r>
              <a:t>Member 2: AI &amp; Satellite  •  Member 3: UI/UX &amp; Mobile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C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ABC — Aravali Build Championship by GDG Udaipur  |  Aravalli Sentinel — AI-Powered Ecological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3B"/>
                </a:solidFill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5E3B"/>
                </a:solidFill>
              </a:defRPr>
            </a:pPr>
            <a:r>
              <a:t>🌿  ABC — Aravali Build Championship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06044"/>
                </a:solidFill>
              </a:defRPr>
            </a:pPr>
            <a:r>
              <a:t>GDG UDAIPUR • BUILD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6382D"/>
                </a:solidFill>
              </a:defRPr>
            </a:pPr>
            <a:r>
              <a:t>PROBLEM STATEMENT — Everyday Environmental Crises</a:t>
            </a:r>
          </a:p>
          <a:p>
            <a:pPr>
              <a:spcBef>
                <a:spcPts val="400"/>
              </a:spcBef>
              <a:defRPr sz="1300">
                <a:solidFill>
                  <a:srgbClr val="647469"/>
                </a:solidFill>
              </a:defRPr>
            </a:pPr>
            <a:r>
              <a:t>Citizens witness illegal destruction daily, but face broken helplines, fear of retaliation, and zero accountability.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4203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blem_defore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709928"/>
            <a:ext cx="2322576" cy="1645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" y="3429000"/>
            <a:ext cx="2267712" cy="292608"/>
          </a:xfrm>
          <a:prstGeom prst="roundRect">
            <a:avLst/>
          </a:prstGeom>
          <a:solidFill>
            <a:srgbClr val="F5F7F0"/>
          </a:solidFill>
          <a:ln w="12700">
            <a:solidFill>
              <a:srgbClr val="1B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B5E3B"/>
                </a:solidFill>
              </a:defRPr>
            </a:pPr>
            <a:r>
              <a:t>⚠️ No Official Helpline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4904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382D"/>
                </a:solidFill>
              </a:defRPr>
            </a:pPr>
            <a:r>
              <a:t>1. Tree Felling &amp; Charcoal Kilns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69"/>
                </a:solidFill>
              </a:defRPr>
            </a:pPr>
            <a:r>
              <a:t>Morning commuters and villagers see mature Dhau trees chopped and illegal kilns smoking, but don't know who the local beat guard is or where to lodge a report.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blem_defore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09928"/>
            <a:ext cx="2322576" cy="16459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593592" y="3429000"/>
            <a:ext cx="2267712" cy="292608"/>
          </a:xfrm>
          <a:prstGeom prst="roundRect">
            <a:avLst/>
          </a:prstGeom>
          <a:solidFill>
            <a:srgbClr val="F5F7F0"/>
          </a:solidFill>
          <a:ln w="127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32F2F"/>
                </a:solidFill>
              </a:defRPr>
            </a:pPr>
            <a:r>
              <a:t>⚠️ Fear of Intimidation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74904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382D"/>
                </a:solidFill>
              </a:defRPr>
            </a:pPr>
            <a:r>
              <a:t>2. Illegal Dynamite Blasting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42976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69"/>
                </a:solidFill>
              </a:defRPr>
            </a:pPr>
            <a:r>
              <a:t>Stone crushing blasts shake rural homes, fracture groundwater aquifers, and generate silica dust clouds. Citizens fear mafia intimidation if they report openly.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600200"/>
            <a:ext cx="254203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roblem_defore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709928"/>
            <a:ext cx="2322576" cy="16459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318504" y="3429000"/>
            <a:ext cx="2267712" cy="292608"/>
          </a:xfrm>
          <a:prstGeom prst="roundRect">
            <a:avLst/>
          </a:prstGeom>
          <a:solidFill>
            <a:srgbClr val="F5F7F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65100"/>
                </a:solidFill>
              </a:defRPr>
            </a:pPr>
            <a:r>
              <a:t>⚠️ Unchecked Night Dumping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374904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382D"/>
                </a:solidFill>
              </a:defRPr>
            </a:pPr>
            <a:r>
              <a:t>3. Toxic Waste Dumping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42976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69"/>
                </a:solidFill>
              </a:defRPr>
            </a:pPr>
            <a:r>
              <a:t>Tankers and dumpers stealthily unload hazardous chemical effluent and industrial debris into dry seasonal riverbeds and hill gaps overnight, poisoning wells.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600200"/>
            <a:ext cx="254203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roblem_defore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4" y="1709928"/>
            <a:ext cx="2322576" cy="164592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043416" y="3429000"/>
            <a:ext cx="2267712" cy="292608"/>
          </a:xfrm>
          <a:prstGeom prst="roundRect">
            <a:avLst/>
          </a:prstGeom>
          <a:solidFill>
            <a:srgbClr val="F5F7F0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6D28D9"/>
                </a:solidFill>
              </a:defRPr>
            </a:pPr>
            <a:r>
              <a:t>⚠️ Zero Tracking &amp;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6" y="3749040"/>
            <a:ext cx="2267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6382D"/>
                </a:solidFill>
              </a:defRPr>
            </a:pPr>
            <a:r>
              <a:t>4. The 'Complaint Black Hole'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42976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69"/>
                </a:solidFill>
              </a:defRPr>
            </a:pPr>
            <a:r>
              <a:t>When people post on social media or dial helplines, reports vanish into a black hole: no Case ID, no status updates, no satellite proof, and zero feedback.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F0F8F2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B5E3B"/>
                </a:solidFill>
              </a:defRPr>
            </a:pPr>
            <a:r>
              <a:t>🎯 TARGET USERS:  Concerned Daily Commuters  •  Rural Villagers &amp; Farmers  •  Forest Beat Guards  •  District Forest Officers (DFO)  •  Environmental NGOs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C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ABC — Aravali Build Championship by GDG Udaipur  |  Aravalli Sentinel — AI-Powered Ecological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3B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5E3B"/>
                </a:solidFill>
              </a:defRPr>
            </a:pPr>
            <a:r>
              <a:t>🌿  ABC — Aravali Build Championship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06044"/>
                </a:solidFill>
              </a:defRPr>
            </a:pPr>
            <a:r>
              <a:t>GDG UDAIPUR • BUILD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6382D"/>
                </a:solidFill>
              </a:defRPr>
            </a:pPr>
            <a:r>
              <a:t>SOLUTION &amp; WORKFLOW — The Ecological Defense Pipeline</a:t>
            </a:r>
          </a:p>
          <a:p>
            <a:pPr>
              <a:spcBef>
                <a:spcPts val="400"/>
              </a:spcBef>
              <a:defRPr sz="1300">
                <a:solidFill>
                  <a:srgbClr val="647469"/>
                </a:solidFill>
              </a:defRPr>
            </a:pPr>
            <a:r>
              <a:t>An AI-assisted, satellite-verified workflow from zero-friction evidence capture to official resolution.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B5E3B"/>
                </a:solidFill>
              </a:defRPr>
            </a:pPr>
            <a:r>
              <a:t>💡 OUR SOLUTION: A two-portal intelligence platform where citizens report environmental crimes in seconds using vernacular voice notes and photos, while Forest Authority officers receive Gemini AI severity scores and Sentinel-2 satellite NDVI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6459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532888"/>
            <a:ext cx="1463040" cy="41148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82D"/>
                </a:solidFill>
              </a:defRPr>
            </a:pPr>
            <a:r>
              <a:t>Step 1: Capture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Photo, Video or Multilingual Voice Note (Hindi / English / Hinglish). No lengthy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2423160"/>
            <a:ext cx="16459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2532888"/>
            <a:ext cx="146304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301752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82D"/>
                </a:solidFill>
              </a:defRPr>
            </a:pPr>
            <a:r>
              <a:t>Step 2: Auto-Telemetry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370332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Browser captures precise GPS coordinates and auto-fetches ambient weather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423160"/>
            <a:ext cx="16459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43984" y="2532888"/>
            <a:ext cx="1463040" cy="41148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01752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82D"/>
                </a:solidFill>
              </a:defRPr>
            </a:pPr>
            <a:r>
              <a:t>Step 3: Gemini AI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370332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Multimodal visual forensics classifies damage, rates severity &amp; maps forest violation codes.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423160"/>
            <a:ext cx="16459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54496" y="2532888"/>
            <a:ext cx="1463040" cy="411480"/>
          </a:xfrm>
          <a:prstGeom prst="roundRect">
            <a:avLst/>
          </a:prstGeom>
          <a:solidFill>
            <a:srgbClr val="806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01752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82D"/>
                </a:solidFill>
              </a:defRPr>
            </a:pPr>
            <a:r>
              <a:t>Step 4: Case ID Generated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370332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Collision-proof ARV-2026-XXXXXX docket dispatched instantly with confidential officer notes.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73568" y="2423160"/>
            <a:ext cx="16459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65008" y="2532888"/>
            <a:ext cx="14630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301752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82D"/>
                </a:solidFill>
              </a:defRPr>
            </a:pPr>
            <a:r>
              <a:t>Step 5: Satellite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370332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Officer console verifies vegetation delta via Sentinel-2 MSI NDVI (B8-B4)/(B8+B4).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2423160"/>
            <a:ext cx="16459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75520" y="2532888"/>
            <a:ext cx="1463040" cy="41148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01752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82D"/>
                </a:solidFill>
              </a:defRPr>
            </a:pPr>
            <a:r>
              <a:t>Step 6: Resolution &amp; Rewards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70332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Citizen tracks milestone updates via /track &amp; earns verified Eco-Points via /rewards.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5F7F0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57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3B"/>
                </a:solidFill>
              </a:defRPr>
            </a:pPr>
            <a:r>
              <a:t>🎤 Multilingual Voice AI</a:t>
            </a:r>
          </a:p>
          <a:p>
            <a:pPr>
              <a:spcBef>
                <a:spcPts val="200"/>
              </a:spcBef>
              <a:defRPr sz="950">
                <a:solidFill>
                  <a:srgbClr val="647469"/>
                </a:solidFill>
              </a:defRPr>
            </a:pPr>
            <a:r>
              <a:t>Hindi &amp; Hinglish voice 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257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3B"/>
                </a:solidFill>
              </a:defRPr>
            </a:pPr>
            <a:r>
              <a:t>🛰️ Sentinel-2 MSI NDVI</a:t>
            </a:r>
          </a:p>
          <a:p>
            <a:pPr>
              <a:spcBef>
                <a:spcPts val="200"/>
              </a:spcBef>
              <a:defRPr sz="950">
                <a:solidFill>
                  <a:srgbClr val="647469"/>
                </a:solidFill>
              </a:defRPr>
            </a:pPr>
            <a:r>
              <a:t>Multi-temporal satellite change scan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257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3B"/>
                </a:solidFill>
              </a:defRPr>
            </a:pPr>
            <a:r>
              <a:t>🔒 Dual-Portal RBAC</a:t>
            </a:r>
          </a:p>
          <a:p>
            <a:pPr>
              <a:spcBef>
                <a:spcPts val="200"/>
              </a:spcBef>
              <a:defRPr sz="950">
                <a:solidFill>
                  <a:srgbClr val="647469"/>
                </a:solidFill>
              </a:defRPr>
            </a:pPr>
            <a:r>
              <a:t>Confidential officer notes protection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5257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5E3B"/>
                </a:solidFill>
              </a:defRPr>
            </a:pPr>
            <a:r>
              <a:t>🏆 Eco-Points Wallet</a:t>
            </a:r>
          </a:p>
          <a:p>
            <a:pPr>
              <a:spcBef>
                <a:spcPts val="200"/>
              </a:spcBef>
              <a:defRPr sz="950">
                <a:solidFill>
                  <a:srgbClr val="647469"/>
                </a:solidFill>
              </a:defRPr>
            </a:pPr>
            <a:r>
              <a:t>Health Connect verified rewards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C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ABC — Aravali Build Championship by GDG Udaipur  |  Aravalli Sentinel — AI-Powered Ecological Protection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3B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5E3B"/>
                </a:solidFill>
              </a:defRPr>
            </a:pPr>
            <a:r>
              <a:t>🌿  ABC — Aravali Build Championship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06044"/>
                </a:solidFill>
              </a:defRPr>
            </a:pPr>
            <a:r>
              <a:t>GDG UDAIPUR • BUILD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6382D"/>
                </a:solidFill>
              </a:defRPr>
            </a:pPr>
            <a:r>
              <a:t>GOOGLE AGENTS &amp; TECHNOLOGIES — Powering Aravalli Sentinel</a:t>
            </a:r>
          </a:p>
          <a:p>
            <a:pPr>
              <a:spcBef>
                <a:spcPts val="400"/>
              </a:spcBef>
              <a:defRPr sz="1300">
                <a:solidFill>
                  <a:srgbClr val="647469"/>
                </a:solidFill>
              </a:defRPr>
            </a:pPr>
            <a:r>
              <a:t>Deep integration with Google Cloud, Gemini Multimodal AI, Earth Engine and Maps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5486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⭐ HACKATHON FOCUS: 'Using Google/Google Cloud Technologies and AI in your solutions will earn you bonus marks.' We deployed 5 core Google technologies across our full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oogle_ge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237744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" y="3246120"/>
            <a:ext cx="1892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6382D"/>
                </a:solidFill>
              </a:defRPr>
            </a:pPr>
            <a:r>
              <a:t>Google Gemini 1.5 Pro / Flash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776472"/>
            <a:ext cx="1819656" cy="292608"/>
          </a:xfrm>
          <a:prstGeom prst="roundRect">
            <a:avLst/>
          </a:prstGeom>
          <a:solidFill>
            <a:srgbClr val="F5F7F0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F46E5"/>
                </a:solidFill>
              </a:defRPr>
            </a:pPr>
            <a:r>
              <a:t>Multimodal AI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799"/>
            <a:ext cx="18562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69"/>
                </a:solidFill>
              </a:defRPr>
            </a:pPr>
            <a:r>
              <a:t>• Visual Forensics: Detects tree stumps, heavy earthmovers &amp; debris in uploaded photos.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Multilingual Speech-to-Text: Transcribes Hindi, English &amp; Hinglish voice notes into structured incident reports.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Legal Mapping: Auto-suggests Indian Forest Act violations &amp; assigns ecological severity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24028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oogle_earth_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2377440"/>
            <a:ext cx="822960" cy="822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71800" y="3246120"/>
            <a:ext cx="1892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6382D"/>
                </a:solidFill>
              </a:defRPr>
            </a:pPr>
            <a:r>
              <a:t>Google Earth Engine (GEE)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8376" y="3776472"/>
            <a:ext cx="1819656" cy="292608"/>
          </a:xfrm>
          <a:prstGeom prst="roundRect">
            <a:avLst/>
          </a:prstGeom>
          <a:solidFill>
            <a:srgbClr val="F5F7F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Satellite Planetary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4114799"/>
            <a:ext cx="18562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69"/>
                </a:solidFill>
              </a:defRPr>
            </a:pPr>
            <a:r>
              <a:t>• Multispectral Telemetry: Ingests Sentinel-2 MSI surface reflectance data over Aravalli coordinates.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NDVI Engine: Mathematical vegetation index computation: (B8_NIR - B4_Red) / (B8_NIR + B4_Red).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Canopy Loss Alert: Flags temporal vegetation drop with honest disclaimer for field inspection.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224028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oogle_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377440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38928" y="3246120"/>
            <a:ext cx="1892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6382D"/>
                </a:solidFill>
              </a:defRPr>
            </a:pPr>
            <a:r>
              <a:t>Google Maps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75504" y="3776472"/>
            <a:ext cx="1819656" cy="292608"/>
          </a:xfrm>
          <a:prstGeom prst="roundRect">
            <a:avLst/>
          </a:prstGeom>
          <a:solidFill>
            <a:srgbClr val="F5F7F0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A4335"/>
                </a:solidFill>
              </a:defRPr>
            </a:pPr>
            <a:r>
              <a:t>Geospatial GIS &amp; Geocoding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4114799"/>
            <a:ext cx="18562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69"/>
                </a:solidFill>
              </a:defRPr>
            </a:pPr>
            <a:r>
              <a:t>• Interactive Risk Heatmap: Renders color-coded threat clusters across Rajasthan &amp; Haryana.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Protected Zone Polygons: Overlays legal boundaries of Sariska, Sajjangarh, and buffer zones.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Reverse Geocoding: Auto-translates raw latitude/longitude into human-readable landmarks.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2904" y="224028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oogle_cloud_r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2377440"/>
            <a:ext cx="822960" cy="822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06056" y="3246120"/>
            <a:ext cx="1892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6382D"/>
                </a:solidFill>
              </a:defRPr>
            </a:pPr>
            <a:r>
              <a:t>Google Cloud Run &amp; Storage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42632" y="3776472"/>
            <a:ext cx="1819656" cy="292608"/>
          </a:xfrm>
          <a:prstGeom prst="roundRect">
            <a:avLst/>
          </a:prstGeom>
          <a:solidFill>
            <a:srgbClr val="F5F7F0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Scalable Serverless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4114799"/>
            <a:ext cx="18562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69"/>
                </a:solidFill>
              </a:defRPr>
            </a:pPr>
            <a:r>
              <a:t>• Low-Latency APIs: Containerized microservices hosting Node.js/Express with auto-scaling.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Forensic Cloud Storage: Tamper-proof encrypted evidence storage for citizen photos &amp; videos.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Enterprise Security: HTTPS TLS encryption, rate limiting, and 99.9% uptime SLA.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0032" y="224028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ndroid_health_conn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2377440"/>
            <a:ext cx="822960" cy="8229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473184" y="3246120"/>
            <a:ext cx="1892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6382D"/>
                </a:solidFill>
              </a:defRPr>
            </a:pPr>
            <a:r>
              <a:t>Android Health Connect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3776472"/>
            <a:ext cx="1819656" cy="292608"/>
          </a:xfrm>
          <a:prstGeom prst="roundRect">
            <a:avLst/>
          </a:prstGeom>
          <a:solidFill>
            <a:srgbClr val="F5F7F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D9488"/>
                </a:solidFill>
              </a:defRPr>
            </a:pPr>
            <a:r>
              <a:t>Mobile Citizen Health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114799"/>
            <a:ext cx="18562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69"/>
                </a:solidFill>
              </a:defRPr>
            </a:pPr>
            <a:r>
              <a:t>• Eco-Volunteer Tracking: Simulates androidx.health.connect step counter for patrolling guards.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Green Fitness Rewards: Connects physical tree-planting walks to Environmental Contribution Points.</a:t>
            </a:r>
          </a:p>
          <a:p>
            <a:pPr>
              <a:spcBef>
                <a:spcPts val="400"/>
              </a:spcBef>
              <a:defRPr sz="850">
                <a:solidFill>
                  <a:srgbClr val="647469"/>
                </a:solidFill>
              </a:defRPr>
            </a:pPr>
            <a:r>
              <a:t>• Civic Engagement: Gamified incentive model turning eco-protection into a community habit.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C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ABC — Aravali Build Championship by GDG Udaipur  |  Aravalli Sentinel — AI-Powered Ecological Protection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3B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5E3B"/>
                </a:solidFill>
              </a:defRPr>
            </a:pPr>
            <a:r>
              <a:t>🌿  ABC — Aravali Build Championship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06044"/>
                </a:solidFill>
              </a:defRPr>
            </a:pPr>
            <a:r>
              <a:t>GDG UDAIPUR • BUILD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6382D"/>
                </a:solidFill>
              </a:defRPr>
            </a:pPr>
            <a:r>
              <a:t>TECH STACK — Production-Grade Full-Stack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647469"/>
                </a:solidFill>
              </a:defRPr>
            </a:pPr>
            <a:r>
              <a:t>Engineered for high reliability, explainable AI risk scoring, and zero dummy data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737360"/>
            <a:ext cx="1819656" cy="45720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6382D"/>
                </a:solidFill>
              </a:defRPr>
            </a:pPr>
            <a:r>
              <a:t>Interactive UI /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85623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✔ React 18 &amp; Vite (Ultra-fast build)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Tailwind CSS (Nature Light System)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Leaflet &amp; Google Maps JS API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Lucide React Modern Iconography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HTML5 Audio &amp; Video Stream Recording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Canvas Confetti &amp; Toast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60020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08376" y="1737360"/>
            <a:ext cx="1819656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240280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6382D"/>
                </a:solidFill>
              </a:defRPr>
            </a:pPr>
            <a:r>
              <a:t>REST Microservices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560320"/>
            <a:ext cx="185623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✔ Node.js (v18+) &amp; Express.js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RESTful Resource Architecture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Multer (Multipart Evidence Upload)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JSON Web Tokens (JWT Auth)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Helmet Security &amp; Rate Limiting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Role-Based Access Control (RBAC)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160020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75504" y="1737360"/>
            <a:ext cx="1819656" cy="457200"/>
          </a:xfrm>
          <a:prstGeom prst="roundRect">
            <a:avLst/>
          </a:prstGeom>
          <a:solidFill>
            <a:srgbClr val="806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240280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6382D"/>
                </a:solidFill>
              </a:defRPr>
            </a:pPr>
            <a:r>
              <a:t>Geospatial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560320"/>
            <a:ext cx="185623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✔ MongoDB Atlas &amp; Mongoose ODM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Geospatial 2dsphere Spatial Indexing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GeoJSON MultiPolygon Forest Zones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Indexed Collision-Proof Case IDs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Confidential Internal Notes Separation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Reward Ledger &amp; Points Wallet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2904" y="160020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42632" y="1737360"/>
            <a:ext cx="1819656" cy="4572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&amp; SATELLITE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2240280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6382D"/>
                </a:solidFill>
              </a:defRPr>
            </a:pPr>
            <a:r>
              <a:t>Ecological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4344" y="2560320"/>
            <a:ext cx="185623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✔ Google Gemini 1.5 Multimodal SDK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Sentinel-2 MSI Spectral Engine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NDVI = (B8-B4)/(B8+B4) Engine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Open-Meteo Real-Time Weather API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Multilingual Voice Audio Transcriber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Exif &amp; Image Forensic Metadata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0032" y="1600200"/>
            <a:ext cx="203911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09760" y="1737360"/>
            <a:ext cx="1819656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DEPLOYMENT &amp; 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240280"/>
            <a:ext cx="18562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6382D"/>
                </a:solidFill>
              </a:defRPr>
            </a:pPr>
            <a:r>
              <a:t>DevOps &amp;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2560320"/>
            <a:ext cx="185623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✔ Google Cloud Run (Auto-scaling)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Vercel Edge CDN Deployment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Docker Containerization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Vitest Suite: 72/72 Tests Passed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100% Passing Integration Tests</a:t>
            </a:r>
          </a:p>
          <a:p>
            <a:pPr>
              <a:spcBef>
                <a:spcPts val="500"/>
              </a:spcBef>
              <a:defRPr sz="900">
                <a:solidFill>
                  <a:srgbClr val="647469"/>
                </a:solidFill>
              </a:defRPr>
            </a:pPr>
            <a:r>
              <a:t>✔ Git / GitHub Action CI/CD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B5E3B"/>
                </a:solidFill>
              </a:defRPr>
            </a:pPr>
            <a:r>
              <a:t>🧪 TEST VERIFICATION: 72 / 72 Vitest Automated Unit &amp; Integration Tests Passing (100%)  •  Vite Production Build: 0 Errors  •  Real MongoDB &amp; Satellite Queries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C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ABC — Aravali Build Championship by GDG Udaipur  |  Aravalli Sentinel — AI-Powered Ecological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3B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5E3B"/>
                </a:solidFill>
              </a:defRPr>
            </a:pPr>
            <a:r>
              <a:t>🌿  ABC — Aravali Build Championship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06044"/>
                </a:solidFill>
              </a:defRPr>
            </a:pPr>
            <a:r>
              <a:t>GDG UDAIPUR • BUILD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6382D"/>
                </a:solidFill>
              </a:defRPr>
            </a:pPr>
            <a:r>
              <a:t>IMPACT &amp; SCALABILITY — From Udaipur Ridges to a Pan-India Shield</a:t>
            </a:r>
          </a:p>
          <a:p>
            <a:pPr>
              <a:spcBef>
                <a:spcPts val="400"/>
              </a:spcBef>
              <a:defRPr sz="1300">
                <a:solidFill>
                  <a:srgbClr val="647469"/>
                </a:solidFill>
              </a:defRPr>
            </a:pPr>
            <a:r>
              <a:t>Demonstrated local impact with a scalable architecture ready for nationwide expansion.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290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5E3B"/>
                </a:solidFill>
              </a:defRPr>
            </a:pPr>
            <a:r>
              <a:t>🌟 REAL IMPACT</a:t>
            </a:r>
          </a:p>
          <a:p>
            <a:pPr>
              <a:spcBef>
                <a:spcPts val="300"/>
              </a:spcBef>
              <a:defRPr sz="950">
                <a:solidFill>
                  <a:srgbClr val="647469"/>
                </a:solidFill>
              </a:defRPr>
            </a:pPr>
            <a:r>
              <a:t>Prevents irreversible destruction of 3.2-billion-year-old rock formations, stops groundwater depletion, and protects native Dhau forest flora.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00200"/>
            <a:ext cx="34290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8B57"/>
                </a:solidFill>
              </a:defRPr>
            </a:pPr>
            <a:r>
              <a:t>🌟 MORE USERS</a:t>
            </a:r>
          </a:p>
          <a:p>
            <a:pPr>
              <a:spcBef>
                <a:spcPts val="300"/>
              </a:spcBef>
              <a:defRPr sz="950">
                <a:solidFill>
                  <a:srgbClr val="647469"/>
                </a:solidFill>
              </a:defRPr>
            </a:pPr>
            <a:r>
              <a:t>Vernacular voice-first reporting in Hindi &amp; Hinglish eliminates literacy and tech hurdles for rural farmers, grazers, and forest-fringe communities.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600200"/>
            <a:ext cx="34290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🌟 BUILT TO SCALE</a:t>
            </a:r>
          </a:p>
          <a:p>
            <a:pPr>
              <a:spcBef>
                <a:spcPts val="300"/>
              </a:spcBef>
              <a:defRPr sz="950">
                <a:solidFill>
                  <a:srgbClr val="647469"/>
                </a:solidFill>
              </a:defRPr>
            </a:pPr>
            <a:r>
              <a:t>Cloud-native microservices, geospatial indexing, and serverless satellite APIs engineered to process thousands of simultaneous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34290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3017520"/>
            <a:ext cx="3209544" cy="384048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UDAIPUR — Local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429000"/>
            <a:ext cx="32095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• Preserves Udaipur Lake Catchment Ridges (Pichola, Fateh Sagar &amp; Badi).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Shields Sajjangarh Wildlife Sanctuary eco-sensitive buffer.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Real-time monitoring of Gogunda &amp; Sukher marble slurry dumping.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926080"/>
            <a:ext cx="34290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9704" y="3017520"/>
            <a:ext cx="3209544" cy="384048"/>
          </a:xfrm>
          <a:prstGeom prst="roundRect">
            <a:avLst/>
          </a:prstGeom>
          <a:solidFill>
            <a:srgbClr val="806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RAJASTHAN — Regional Corridor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3429000"/>
            <a:ext cx="32095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• Defends the 692 km natural barrier stopping Thar Desert expansion.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Protects Sariska &amp; Ranthambore wildlife crossing corridors.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Connects Jaipur, Alwar, Rajsamand &amp; Sirohi district forest offices.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2926080"/>
            <a:ext cx="34290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3017520"/>
            <a:ext cx="3209544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INDIA — National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429000"/>
            <a:ext cx="32095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• Scalable blueprint for Western Ghats, Shivaliks &amp; Central Indian forests.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Unified interface for Ministry of Environment, Forest &amp; Climate Change.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Empowers millions of citizens as verified ecological guardians.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F0F8F2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5E3B"/>
                </a:solidFill>
              </a:defRPr>
            </a:pPr>
            <a:r>
              <a:t>🚁 Autonomous Drone Patrols</a:t>
            </a:r>
          </a:p>
          <a:p>
            <a:pPr>
              <a:spcBef>
                <a:spcPts val="200"/>
              </a:spcBef>
              <a:defRPr sz="850">
                <a:solidFill>
                  <a:srgbClr val="647469"/>
                </a:solidFill>
              </a:defRPr>
            </a:pPr>
            <a:r>
              <a:t>Edge AI aerial surveys for inaccessible high ridge illegal mining pits.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983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5E3B"/>
                </a:solidFill>
              </a:defRPr>
            </a:pPr>
            <a:r>
              <a:t>💬 WhatsApp / Telegram Bot</a:t>
            </a:r>
          </a:p>
          <a:p>
            <a:pPr>
              <a:spcBef>
                <a:spcPts val="200"/>
              </a:spcBef>
              <a:defRPr sz="850">
                <a:solidFill>
                  <a:srgbClr val="647469"/>
                </a:solidFill>
              </a:defRPr>
            </a:pPr>
            <a:r>
              <a:t>Zero-app citizen reporting: send photos &amp; voice notes directly via chat.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83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5E3B"/>
                </a:solidFill>
              </a:defRPr>
            </a:pPr>
            <a:r>
              <a:t>⚖️ Automated Legal FIRs</a:t>
            </a:r>
          </a:p>
          <a:p>
            <a:pPr>
              <a:spcBef>
                <a:spcPts val="200"/>
              </a:spcBef>
              <a:defRPr sz="850">
                <a:solidFill>
                  <a:srgbClr val="647469"/>
                </a:solidFill>
              </a:defRPr>
            </a:pPr>
            <a:r>
              <a:t>Auto-drafts legal complaints mapped to Indian Forest Act &amp; NGT orders.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9834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B5E3B"/>
                </a:solidFill>
              </a:defRPr>
            </a:pPr>
            <a:r>
              <a:t>🌱 Carbon Credit Ledger</a:t>
            </a:r>
          </a:p>
          <a:p>
            <a:pPr>
              <a:spcBef>
                <a:spcPts val="200"/>
              </a:spcBef>
              <a:defRPr sz="850">
                <a:solidFill>
                  <a:srgbClr val="647469"/>
                </a:solidFill>
              </a:defRPr>
            </a:pPr>
            <a:r>
              <a:t>Exchange verified citizen Eco-Points for local partner green rewards.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C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ABC — Aravali Build Championship by GDG Udaipur  |  Aravalli Sentinel — AI-Powered Ecological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3B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5E3B"/>
                </a:solidFill>
              </a:defRPr>
            </a:pPr>
            <a:r>
              <a:t>🌿  ABC — Aravali Build Championship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806044"/>
                </a:solidFill>
              </a:defRPr>
            </a:pPr>
            <a:r>
              <a:t>GDG UDAIPUR • BUILD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6382D"/>
                </a:solidFill>
              </a:defRPr>
            </a:pPr>
            <a:r>
              <a:t>OUR INSTITUTION &amp; TEAM — Aravali Guardians</a:t>
            </a:r>
          </a:p>
          <a:p>
            <a:pPr>
              <a:spcBef>
                <a:spcPts val="400"/>
              </a:spcBef>
              <a:defRPr sz="1300">
                <a:solidFill>
                  <a:srgbClr val="647469"/>
                </a:solidFill>
              </a:defRPr>
            </a:pPr>
            <a:r>
              <a:t>Engineered with dedication for the Aravali Build Championship by GDG Udaipur.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llege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822960" cy="822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19" y="1645920"/>
            <a:ext cx="6858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5E3B"/>
                </a:solidFill>
              </a:defRPr>
            </a:pPr>
            <a:r>
              <a:t>COLLEGE OF TECHNOLOGY AND ENGINEERING (CTAE), UDAIPUR</a:t>
            </a:r>
          </a:p>
          <a:p>
            <a:pPr>
              <a:spcBef>
                <a:spcPts val="200"/>
              </a:spcBef>
              <a:defRPr sz="1100">
                <a:solidFill>
                  <a:srgbClr val="647469"/>
                </a:solidFill>
              </a:defRPr>
            </a:pPr>
            <a:r>
              <a:t>Department of Computer Science &amp; Engineering  |  Maharana Pratap University of Agriculture and Technology (MPUAT)</a:t>
            </a:r>
          </a:p>
        </p:txBody>
      </p:sp>
      <p:pic>
        <p:nvPicPr>
          <p:cNvPr id="10" name="Picture 9" descr="gdg_udaipur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691640"/>
            <a:ext cx="2286000" cy="640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274320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am_avatar_l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26080"/>
            <a:ext cx="100584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1680" y="2926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382D"/>
                </a:solidFill>
              </a:defRPr>
            </a:pPr>
            <a:r>
              <a:t>[Team Lead Name]</a:t>
            </a:r>
          </a:p>
          <a:p>
            <a:pPr>
              <a:spcBef>
                <a:spcPts val="200"/>
              </a:spcBef>
              <a:defRPr sz="1000" b="1">
                <a:solidFill>
                  <a:srgbClr val="1B5E3B"/>
                </a:solidFill>
              </a:defRPr>
            </a:pPr>
            <a:r>
              <a:t>Team Lead &amp; Full-Stack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• Role: Architecture &amp; Full-Stack Development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React 18 frontend &amp; Node.js REST API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Dual-portal authentication &amp; RBAC security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72/72 automated Vitest test suite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Contact: github.com/teamlead • 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74320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eam_avatar_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2926080"/>
            <a:ext cx="100584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0136" y="2926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382D"/>
                </a:solidFill>
              </a:defRPr>
            </a:pPr>
            <a:r>
              <a:t>[Member 2 Name]</a:t>
            </a:r>
          </a:p>
          <a:p>
            <a:pPr>
              <a:spcBef>
                <a:spcPts val="200"/>
              </a:spcBef>
              <a:defRPr sz="1000" b="1">
                <a:solidFill>
                  <a:srgbClr val="6D28D9"/>
                </a:solidFill>
              </a:defRPr>
            </a:pPr>
            <a:r>
              <a:t>AI &amp; Satellite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397764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• Role: Google AI &amp; Earth Observation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Google Gemini 1.5 Multimodal vision triage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Sentinel-2 MSI NDVI vegetation engine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Open-Meteo real-time atmospheric context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Contact: github.com/ai-engineer •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274320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C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eam_avatar_de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2926080"/>
            <a:ext cx="100584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08592" y="292608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382D"/>
                </a:solidFill>
              </a:defRPr>
            </a:pPr>
            <a:r>
              <a:t>[Member 3 Name]</a:t>
            </a:r>
          </a:p>
          <a:p>
            <a:pPr>
              <a:spcBef>
                <a:spcPts val="200"/>
              </a:spcBef>
              <a:defRPr sz="1000" b="1">
                <a:solidFill>
                  <a:srgbClr val="806044"/>
                </a:solidFill>
              </a:defRPr>
            </a:pPr>
            <a:r>
              <a:t>UI/UX &amp; Mobile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397764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69"/>
                </a:solidFill>
              </a:defRPr>
            </a:pPr>
            <a:r>
              <a:t>• Role: Product Design &amp; Mobile Systems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Nature Light Environmental Design System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Public Case Tracking Portal (/track)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Android Health Connect reward simulation</a:t>
            </a:r>
          </a:p>
          <a:p>
            <a:pPr>
              <a:spcBef>
                <a:spcPts val="300"/>
              </a:spcBef>
              <a:defRPr sz="900">
                <a:solidFill>
                  <a:srgbClr val="647469"/>
                </a:solidFill>
              </a:defRPr>
            </a:pPr>
            <a:r>
              <a:t>• Contact: github.com/ux-lead • email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06440"/>
            <a:ext cx="10728655" cy="502920"/>
          </a:xfrm>
          <a:prstGeom prst="roundRect">
            <a:avLst/>
          </a:prstGeom>
          <a:solidFill>
            <a:srgbClr val="F0F8F2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B5E3B"/>
                </a:solidFill>
              </a:defRPr>
            </a:pPr>
            <a:r>
              <a:t>🌿 'Protecting the Aravalli is not just conservation — it is securing the air, water, and climate of North India.'  •  Thank You GDG Udaipur!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CC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69"/>
                </a:solidFill>
              </a:defRPr>
            </a:pPr>
            <a:r>
              <a:t>ABC — Aravali Build Championship by GDG Udaipur  |  Aravalli Sentinel — AI-Powered Ecological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B5E3B"/>
                </a:solidFill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